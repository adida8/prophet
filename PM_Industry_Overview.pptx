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E8EAED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E8EAED"/>
                </a:solidFill>
                <a:latin typeface="Georgia"/>
              </a:rPr>
              <a:t>Annual prediction-market volume (USD billions)</a:t>
            </a:r>
          </a:p>
        </c:rich>
      </c:tx>
      <c:layout>
        <c:manualLayout>
          <c:xMode val="edge"/>
          <c:yMode val="edge"/>
          <c:x val="0.0072"/>
          <c:y val="0.0648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volume ($B)</c:v>
                </c:pt>
              </c:strCache>
            </c:strRef>
          </c:tx>
          <c:spPr>
            <a:solidFill>
              <a:srgbClr val="00D09C"/>
            </a:solidFill>
            <a:effectLst/>
          </c:spPr>
          <c:invertIfNegative val="0"/>
          <c:dLbls>
            <c:numFmt formatCode="$#,##0&quot;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 actual</c:v>
                  </c:pt>
                  <c:pt idx="1">
                    <c:v>2025 actual</c:v>
                  </c:pt>
                  <c:pt idx="2">
                    <c:v>2026 est.</c:v>
                  </c:pt>
                  <c:pt idx="3">
                    <c:v>2030 forecast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57</c:v>
                </c:pt>
                <c:pt idx="2">
                  <c:v>240</c:v>
                </c:pt>
                <c:pt idx="3">
                  <c:v>1000</c:v>
                </c:pt>
              </c:numCache>
            </c:numRef>
          </c:val>
        </c:ser>
        <c:dLbls>
          <c:numFmt formatCode="$#,##0&quot;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DD1"/>
                </a:solidFill>
                <a:latin typeface="Consolas"/>
              </a:defRPr>
            </a:pPr>
            <a:endParaRPr lang="en-US"/>
          </a:p>
        </c:txPr>
        <c:crossAx val="2094734552"/>
        <c:crossesAt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2C5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8BDD1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B8BDD1"/>
                    </a:solidFill>
                    <a:latin typeface="Calibri"/>
                  </a:rPr>
                  <a:t>USD, billions</a:t>
                </a:r>
              </a:p>
            </c:rich>
          </c:tx>
          <c:layout/>
          <c:overlay val="0"/>
        </c:title>
        <c:numFmt formatCode="$#,##0&quot;B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DD1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E8EAED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E8EAED"/>
                </a:solidFill>
                <a:latin typeface="Georgia"/>
              </a:rPr>
              <a:t>Monthly Active Users by platform (thousands, most recent disclosed)</a:t>
            </a:r>
          </a:p>
        </c:rich>
      </c:tx>
      <c:layout>
        <c:manualLayout>
          <c:xMode val="edge"/>
          <c:yMode val="edge"/>
          <c:x val="0.0072"/>
          <c:y val="0.06124999999999999"/>
        </c:manualLayout>
      </c:layout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(thousands)</c:v>
                </c:pt>
              </c:strCache>
            </c:strRef>
          </c:tx>
          <c:spPr>
            <a:solidFill>
              <a:srgbClr val="00D09C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Kalshi</c:v>
                  </c:pt>
                  <c:pt idx="1">
                    <c:v>Robinhood PM</c:v>
                  </c:pt>
                  <c:pt idx="2">
                    <c:v>Crypto.com OG</c:v>
                  </c:pt>
                  <c:pt idx="3">
                    <c:v>Polymarket</c:v>
                  </c:pt>
                  <c:pt idx="4">
                    <c:v>PredictIt</c:v>
                  </c:pt>
                  <c:pt idx="5">
                    <c:v>Myriad (WAU)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5100</c:v>
                </c:pt>
                <c:pt idx="1">
                  <c:v>1000</c:v>
                </c:pt>
                <c:pt idx="2">
                  <c:v>890</c:v>
                </c:pt>
                <c:pt idx="3">
                  <c:v>768</c:v>
                </c:pt>
                <c:pt idx="4">
                  <c:v>400</c:v>
                </c:pt>
                <c:pt idx="5">
                  <c:v>207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AE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42C5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8BDD1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B8BDD1"/>
                    </a:solidFill>
                    <a:latin typeface="Calibri"/>
                  </a:rPr>
                  <a:t>Users (thousands)</a:t>
                </a:r>
              </a:p>
            </c:rich>
          </c:tx>
          <c:layout/>
          <c:overlay val="0"/>
        </c:title>
        <c:numFmt formatCode="#,##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BDD1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 $22B  ·  POLYMARKET $15B  ·  VOLUME $22B/MO  ·  TAM $1T BY 2030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73152" cy="16459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OVERVIEW  ·  APRIL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Markets: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$22B/month industry,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46634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00D0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to hit $1T by 2030.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Adi Dagan  ·  Sources: Bernstein, TRM Labs, CFTC, Bloomberg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that anchor everything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9260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292608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Kalshi + Polymarket 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— up from $15.8B (full-year 2024)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560320" cy="29260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828800"/>
            <a:ext cx="54864" cy="292608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8.58M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prediction-market users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2026, +400% year-over-year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560320" cy="29260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2880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48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$22B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 Series (Coatue-led)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2026; Polymarket $15B talks April 2026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2560320" cy="29260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82880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148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$1T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92354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2030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annual-volume TAM forecast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~80% CAGR 2025–2030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now controls ~89% of regulated US prediction-market volume. Institutional capital arrived in 2025; regulatory tailwinds accelerated in April 2026.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Artemis, DeFi Rate (Mar–Apr 2026); TRM Labs (Jan 2026); Bloomberg (Mar–Apr 2026); Bernstein via CNBC (Apr 2026); CoinDesk (Apr 2026)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platforms control the 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2322576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Shape 5"/>
          <p:cNvSpPr/>
          <p:nvPr/>
        </p:nvSpPr>
        <p:spPr>
          <a:xfrm>
            <a:off x="3233928" y="1737360"/>
            <a:ext cx="685800" cy="228600"/>
          </a:xfrm>
          <a:prstGeom prst="rect">
            <a:avLst/>
          </a:prstGeom>
          <a:solidFill>
            <a:srgbClr val="00D09C">
              <a:alpha val="25000"/>
            </a:srgbClr>
          </a:solidFill>
          <a:ln w="6350">
            <a:solidFill>
              <a:srgbClr val="00D0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3928" y="17373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REG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DCM · regulated exchange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5.1M MAU · $22B val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US regulated volume; 50-state legal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57016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03/2026; CoinDesk 04/2026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03776" y="1554480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3776" y="1554480"/>
            <a:ext cx="54864" cy="2322576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9064" y="1737360"/>
            <a:ext cx="685800" cy="228600"/>
          </a:xfrm>
          <a:prstGeom prst="rect">
            <a:avLst/>
          </a:prstGeom>
          <a:solidFill>
            <a:srgbClr val="00D09C">
              <a:alpha val="25000"/>
            </a:srgbClr>
          </a:solidFill>
          <a:ln w="6350">
            <a:solidFill>
              <a:srgbClr val="00D0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9064" y="17373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32376" y="1737360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Polymarket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32376" y="219456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· Polygon + UMA oracle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32376" y="251460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~770K MAU · $15B 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32376" y="2926080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on-chain; ~60% volume non-sports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32376" y="3557016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04/2026; pm.wiki 03/2026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58912" y="1554480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8912" y="1554480"/>
            <a:ext cx="54864" cy="2322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1737360"/>
            <a:ext cx="685800" cy="22860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44200" y="17373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87512" y="1737360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Robinhood Predictions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87512" y="219456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Kalshi-powered; MIAXdx acquired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87512" y="251460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1M+ users · 9B contracts 2025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87512" y="2926080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distribution engine; $3.4B Jan '26 vol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7512" y="3557016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Q4'25; Finance Magnates 2025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078224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78224"/>
            <a:ext cx="54864" cy="2322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3928" y="4261104"/>
            <a:ext cx="685800" cy="22860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3928" y="4261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REG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" y="4261104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Crypto.com OG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7240" y="4718304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via CDNA subsidiary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038344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40x weekly growth · Feb '26 launch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5449824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offer margin on prediction contracts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6080760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Newswire 02/2026; Finance Magnates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03776" y="4078224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03776" y="4078224"/>
            <a:ext cx="54864" cy="2322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6989064" y="4261104"/>
            <a:ext cx="685800" cy="22860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9064" y="4261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32376" y="4261104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Myriad Markets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32376" y="4718304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· BNB / Abstract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32376" y="5038344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207K WAU · $20M pre-A (Feb '26)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32376" y="5449824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Decrypt / Rug Radio media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32376" y="6080760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Chainwire 01/2026; Decrypt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058912" y="4078224"/>
            <a:ext cx="3553968" cy="2322576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58912" y="4078224"/>
            <a:ext cx="54864" cy="2322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44200" y="4261104"/>
            <a:ext cx="685800" cy="228600"/>
          </a:xfrm>
          <a:prstGeom prst="rect">
            <a:avLst/>
          </a:prstGeom>
          <a:solidFill>
            <a:srgbClr val="6B7280">
              <a:alpha val="25000"/>
            </a:srgbClr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44200" y="4261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NICHE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87512" y="4261104"/>
            <a:ext cx="245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PredictIt / Manifold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287512" y="4718304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no-action / play-money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87512" y="5038344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 users · play-money only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287512" y="5449824"/>
            <a:ext cx="318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only / community forecasting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87512" y="6080760"/>
            <a:ext cx="318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PokerNews 2026; Wikipedia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with &gt;50K MAU. Kalshi + Polymarket combined for ~95%+ of industry volume (Mar 2026).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$15B in 2024 to $1T by 2030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645920"/>
            <a:ext cx="3474720" cy="128016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0" y="1645920"/>
            <a:ext cx="54864" cy="128016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+300% YoY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210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 volume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· Bernstein (2026)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138160" y="3017520"/>
            <a:ext cx="3474720" cy="128016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0" y="30175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~80% CAGR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210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2025–2030 forecast (Bernstein)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$400M → $10.8B by 2030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38160" y="4389120"/>
            <a:ext cx="3474720" cy="16459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4389120"/>
            <a:ext cx="54864" cy="16459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$3.7B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fintech VC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2104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to prediction markets — 35x YoY.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2104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Insights via MEXC (2026)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Bernstein via CNBC (Apr 14, 2026); CertiK via Yahoo (2026); CB Insights via MEXC (2026). 2024/2025 actuals; 2026+ forecast.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TERRITORIES &amp;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globally · contested in the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52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 (federal) · CONTESTED (states)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CFTC-regulated in 50 states. 20+ state lawsuits active. Third Circuit (Apr 6, 2026) ruled for Kalshi; Ninth Circuit hearing Apr 16. Arizona filed criminal charges March 2026.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4864" cy="152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Union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30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MICA ACTIVE · PATCHWORK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blocked in France, Belgium, Netherlands, Italy, Portugal, Romania, Hungary, Switzerland, Poland. National gambling regulators own enforcement.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0708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07080"/>
            <a:ext cx="54864" cy="1524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44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8374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7576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+ Polymarket both blocked. No UKGC license. IP termination enforced.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0708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307080"/>
            <a:ext cx="54864" cy="1524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444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Asia-Pacific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8374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17576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Singapore, Russia, Australia blocked across major platforms. Fragmented; no harmonized framework.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1396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13960"/>
            <a:ext cx="54864" cy="15240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51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55443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/ EMERGING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88264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Brazil: B3 approved first local prediction operator 2026 (CVM). Elsewhere unregulated gray market.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5013960"/>
            <a:ext cx="5440680" cy="1524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5013960"/>
            <a:ext cx="54864" cy="15240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151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of world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55443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 ACCESS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5882640"/>
            <a:ext cx="5074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Polymarket, Myriad, Limitless accessible via wallet in most non-US/non-blocked jurisdictions.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Holland &amp; Knight, CNBC, Nevada Independent, CoinDesk, Polymarket Help Center, iGaming Business (all Mar–Apr 2026).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MONTHLY ACTIVE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Kalshi's 5.1M dwarfs everyone else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00200"/>
            <a:ext cx="3657600" cy="18288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600200"/>
            <a:ext cx="54864" cy="18288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+400% YoY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3816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MAU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514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total: 8.58M across all platforms (TRM Labs / Casino.org)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0" y="3520440"/>
            <a:ext cx="3657600" cy="265176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55280" y="352044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Comparability note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38160" y="397764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wallets ≠ funded accounts.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= many wallets (Polymarket, Myriad, Limitless). KYC'd accounts are 1:1 (Kalshi, PredictIt, Robinhood). Wallets are ~6x less likely to be funded.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Sensor Tower via Yahoo/ingame (Kalshi, early 2026); pm.wiki (Polymarket, Mar 2026); PokerNews (PredictIt, Jan 2026); Robinhood Q4'25; thirdweb (Myriad). ALM Corp on wallet-funding ratio (Jan 2026).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prediction-market user is actually worth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45720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 — derived LTV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ARPU / month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/ user /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4224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08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take rate (2025)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46085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1.15%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9926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ARPU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49926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$29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376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derived LTV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5376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$348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5394960" cy="14173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POLYMARKET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constructable (median)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Whales skew inputs — only ~2% of traders ever earn &gt;$1K profit. Top-decile could be $242/mo at 1% take.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5394960" cy="14173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ROBINHOOD PM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~$57 / user / mo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3840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Q4'25 contracts (8.5B × ~$0.02 fee) ÷ 1M users. Platform &lt;14 months old — no real tenure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617720"/>
            <a:ext cx="5394960" cy="15544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61772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 GAP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platform publishes LTV.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5349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churn, cohort retention all undisclosed. Every number here is derived from public volume ÷ user counts — use with caveats.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Artemis/DeFi Rate (Kalshi volume, Apr 2026); Yahoo/CDC Gaming (Kalshi 2025 take rate); The Block (Polymarket, Jul 2025 [stale]); Robinhood Q4'25 earnings.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ACQUISITION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payouts · high CPA · cratered SEO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AFFILIATE / REFERRAL PROGRAMS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5544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referral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0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$25 / $25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 cap per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revshare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0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30% + 10%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indirect, $10K vol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Dub.co CPA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0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$10 / FTD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fee per first-deposit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affiliate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policy banned sports promo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affiliate 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6949440" cy="20116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16052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297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BENCHMARK — SPORTS BETTING CPA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$500–800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7724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US CPA / new bettor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49040" y="4480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FanDuel ~$290 CPA with 12–18 month payback (Sports Handle 2025). BetMGM CEO flagged rising 2026 CPA specifically driven by prediction-market bidding competition (Casino Beats, Apr 2026). Robinhood fiscal-2020 funded-account CAC was $20 — the cheapest comparable.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80960" y="1600200"/>
            <a:ext cx="3931920" cy="4572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0" y="1600200"/>
            <a:ext cx="54864" cy="4572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HEADWIND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0956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AI Overviews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0956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90956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betting-affiliate sites hit by Mar 2025 core update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909560" y="3474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 → 8%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909560" y="3858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with AIO present · 47% decline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90956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909560" y="46817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clicks reduction with AIO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90956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−34.5%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909560" y="55046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position-1 CTR drop (Ahrefs)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Polymarket Help Center, Kalshi Help Center, Dub.co, The Block (2026); Scaleo, Sports Handle (2025); Post Affiliate Pro, Pew/Dataslayer, Ahrefs, SearchEngineLand (2025).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REGULATORY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momentum vs state backlash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45720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framework is coming together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128016" cy="128016"/>
          </a:xfrm>
          <a:prstGeom prst="ellipse">
            <a:avLst/>
          </a:prstGeom>
          <a:solidFill>
            <a:srgbClr val="00D09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ANPRM (Mar 12, 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98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Event-contract rulemaking open; 800+ comments. Closes Apr 30.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128016" cy="128016"/>
          </a:xfrm>
          <a:prstGeom prst="ellipse">
            <a:avLst/>
          </a:prstGeom>
          <a:solidFill>
            <a:srgbClr val="00D09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19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Circuit (Apr 6, 2026)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 ruled for Kalshi. Federal law preempts NJ ban.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28016" cy="128016"/>
          </a:xfrm>
          <a:prstGeom prst="ellipse">
            <a:avLst/>
          </a:prstGeom>
          <a:solidFill>
            <a:srgbClr val="00D09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32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withdrew prohibitive rule (Feb 2026)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325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Biden-era ban draft pulled. Regulator now actively rulemaking.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837176"/>
            <a:ext cx="128016" cy="128016"/>
          </a:xfrm>
          <a:prstGeom prst="ellipse">
            <a:avLst/>
          </a:prstGeom>
          <a:solidFill>
            <a:srgbClr val="00D09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745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DCM event certifications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383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5/year (2006–2020) → 131 (2021) → ~1,600 (2025).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550408"/>
            <a:ext cx="128016" cy="128016"/>
          </a:xfrm>
          <a:prstGeom prst="ellipse">
            <a:avLst/>
          </a:prstGeom>
          <a:solidFill>
            <a:srgbClr val="00D09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458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+ DOJ lawsuits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751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Suing AZ, CT, IL to defend federal preemption.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600200"/>
            <a:ext cx="54864" cy="4572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HEADWINDS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States are attacking · SCOTUS looms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92240" y="26974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2606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Ninth Circuit (Apr 16, 2026)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20840" y="2862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Kalshi/Crypto.com/Robinhood vs NV. Judges leaning state. Circuit split likely.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32918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state civil lawsuits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Kalshi. NV injunction; May 4 geofence deadline.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38862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criminal charges (Mar 2026)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20840" y="4050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misdemeanor counts — first criminal case vs a PM.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448056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389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AG suit (Mar 27, 2026)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20840" y="4645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Illegal-gambling + consumer-protection claims.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507492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4983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SCOTUS likely in 2026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20840" y="5239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 64% SCOTUS takes the sports-contract case this year.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56692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5577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MiCA grandfathering ends Jul 1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720840" y="5833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gambling regulators own PM enforcement.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Skadden, Holland &amp; Knight (Apr 2026); Federal Register (Mar 16, 2026); CNBC, Nevada Independent, CoinDesk, GeekWire, Fortune (Mar–Apr 2026); Sumsub (EU MiCA).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INSTITUTIONAL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 Street arrived in 2025 — and is hunting arbitrage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94610" cy="16459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6459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prop firms evaluating prediction markets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already trading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1850" y="1600200"/>
            <a:ext cx="2594610" cy="16459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1850" y="160020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55473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54730" y="237744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from DraftKings + FanDuel market caps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4730" y="29260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PM competition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5060" y="1600200"/>
            <a:ext cx="2594610" cy="16459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1600200"/>
            <a:ext cx="54864" cy="16459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7" name="Text 15"/>
          <p:cNvSpPr/>
          <p:nvPr/>
        </p:nvSpPr>
        <p:spPr>
          <a:xfrm>
            <a:off x="637794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77940" y="237744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Polymarket volume from market makers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7940" y="29260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&gt;10K trades 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18270" y="1600200"/>
            <a:ext cx="2594610" cy="164592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8270" y="1600200"/>
            <a:ext cx="54864" cy="16459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22" name="Text 20"/>
          <p:cNvSpPr/>
          <p:nvPr/>
        </p:nvSpPr>
        <p:spPr>
          <a:xfrm>
            <a:off x="920115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$3.7B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01150" y="237744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fintech VC → prediction markets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1150" y="29260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35x YoY (CB Insights)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5394960" cy="26974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474720"/>
            <a:ext cx="54864" cy="269748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TRADING / BUILDING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319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Susquehanna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Kalshi MM; with BitGo launched first institutional OTC desk Mar 2026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DRW · Jump · Jane Street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PM desks; using PMs for meta-contract hedging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evaluating entry (Bloomberg Apr 16)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MIAXdx DCM to run its own exchange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The Clearing Company (closed Jan 2026)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394960" cy="269748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474720"/>
            <a:ext cx="54864" cy="2697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OR CAUTIOUS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9319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Point72 · Balyasny   </a:t>
            </a:r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staff from trading PMs (insider-trading concerns)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integrations (not trades):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CNBC → Kalshi.  WSJ/Dow Jones → Polymarket.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revenue signal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~$1.3B annualized sports revenue — ~25% of DraftKings' sportsbook revenue (FT via KuCoin/Yahoo)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+ FIS post-trade clearing. 5(c) Capital: $35M VC fund backed by Kalshi + Polymarket CEOs.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Markets Media, Finance Magnates, Bloomberg (Apr 2026); BusinessWire (BitGo+Susquehanna, Mar 2026); CB Insights via MEXC (2026); FT via KuCoin/Yahoo; Bitget News; TechCrunch (Mar 23, 2026).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AFFILIATE / COMPARISON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competitive landscape sitting on top of the platforms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20574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Shape 5"/>
          <p:cNvSpPr/>
          <p:nvPr/>
        </p:nvSpPr>
        <p:spPr>
          <a:xfrm>
            <a:off x="3233928" y="1755648"/>
            <a:ext cx="685800" cy="237744"/>
          </a:xfrm>
          <a:prstGeom prst="rect">
            <a:avLst/>
          </a:prstGeom>
          <a:solidFill>
            <a:srgbClr val="00D09C">
              <a:alpha val="20000"/>
            </a:srgbClr>
          </a:solidFill>
          <a:ln w="6350">
            <a:solidFill>
              <a:srgbClr val="00D0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3928" y="17556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Prediction Edge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$9.99/mo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· arbitrage · whale tracking · 5 platforms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integration @ lowest price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3776" y="1554480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3776" y="1554480"/>
            <a:ext cx="54864" cy="20574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9064" y="1755648"/>
            <a:ext cx="685800" cy="237744"/>
          </a:xfrm>
          <a:prstGeom prst="rect">
            <a:avLst/>
          </a:prstGeom>
          <a:solidFill>
            <a:srgbClr val="00D09C">
              <a:alpha val="20000"/>
            </a:srgbClr>
          </a:solidFill>
          <a:ln w="6350">
            <a:solidFill>
              <a:srgbClr val="00D0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9064" y="17556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32376" y="1719072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Oddpool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32376" y="2057400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$30/mo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32376" y="237744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32376" y="2651760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scanner · 1M API reqs · WebSockets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2376" y="315468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Developer-first; 2 platforms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58912" y="1554480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8912" y="1554480"/>
            <a:ext cx="54864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1755648"/>
            <a:ext cx="685800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44200" y="17556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87512" y="1719072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FinFeedAPI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87512" y="2057400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$4–10K/mo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87512" y="2377440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87512" y="2651760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books · OHLCV · 4 platforms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87512" y="3154680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only, no execution; SLAs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813048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813048"/>
            <a:ext cx="54864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3928" y="4014216"/>
            <a:ext cx="685800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3928" y="40142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" y="3977640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PolyRouter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" y="4315968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7240" y="4636008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aggregator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4910328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API: Kalshi/Poly/Limitless/Manifold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5413248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schema; pilot-only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03776" y="3813048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03776" y="3813048"/>
            <a:ext cx="54864" cy="2057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6989064" y="4014216"/>
            <a:ext cx="685800" cy="237744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9064" y="40142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32376" y="3977640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 (Solana)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532376" y="4315968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Freemium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32376" y="4636008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32376" y="4910328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+ copy trading + demo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32376" y="5413248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Solana-only; misses Kalshi + Polymarket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58912" y="3813048"/>
            <a:ext cx="3553968" cy="20574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58912" y="3813048"/>
            <a:ext cx="54864" cy="2057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44200" y="4014216"/>
            <a:ext cx="685800" cy="237744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44200" y="40142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B2C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87512" y="3977640"/>
            <a:ext cx="245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 Tools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87512" y="4315968"/>
            <a:ext cx="318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Free/Custom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287512" y="4636008"/>
            <a:ext cx="318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aggregator + B2B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87512" y="4910328"/>
            <a:ext cx="318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aggregator + white-label clones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287512" y="5413248"/>
            <a:ext cx="318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primary focus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" y="5760720"/>
            <a:ext cx="11064240" cy="77724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760720"/>
            <a:ext cx="54864" cy="77724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" y="5870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WHITESPACE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194560" y="5870448"/>
            <a:ext cx="9281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consumer product combines multi-platform signals + Kelly-sized stakes + readable rationale. Comparison is commoditized; decision support is not.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yourpredictionedge.com/pricing, oddpool.com/pricing, finfeedapi.com, polymark.et/product/polyrouter (all 2026); Chainwire (FORS, Jan 2026). Also in ecosystem: VegasInsider + Action Network (content/affiliate); Gambling.com (owns OddsJam post $160M Jan '25 deal).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THE 2030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markets are where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00D0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betting was in 2018.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05200" cy="29718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297180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CASE (BERNSTEIN)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23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$1T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volume by 2030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23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path: $400M (2025) → $2.5B (2026) → $10.8B (2030).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323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via CNBC, Apr 14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28160" y="2743200"/>
            <a:ext cx="3505200" cy="29718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8160" y="2743200"/>
            <a:ext cx="54864" cy="2971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2926080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 TAM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11040" y="32918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sports betting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8024" y="32918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$120B handle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1040" y="376732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options (notional)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8024" y="376732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$34T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11040" y="424281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derivatives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8024" y="4242816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$18.6T (Q1'26)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11040" y="4718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est.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8024" y="4718304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$240B (2026)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1040" y="5394960"/>
            <a:ext cx="323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 Review, Cboe, TheCryptoBasic (2026)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07680" y="2743200"/>
            <a:ext cx="3505200" cy="2971800"/>
          </a:xfrm>
          <a:prstGeom prst="rect">
            <a:avLst/>
          </a:prstGeom>
          <a:solidFill>
            <a:srgbClr val="161C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743200"/>
            <a:ext cx="54864" cy="2971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290560" y="2926080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WOULD KILL 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36280" y="34015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8519160" y="3291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SCOTUS sides with states on sports contracts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36280" y="390448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519160" y="3794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CFTC rulemaking carves out politics / sports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36280" y="44074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8519160" y="42976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MiCA interpretation blocks on-chain PMs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36280" y="49103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8519160" y="48006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Overviews permanently kills affiliate SEO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90560" y="5166360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reshapes the TAM slide.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Adi Dagan  ·  Data through April 20, 2026  ·  See backing brief for full source list and data gaps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Markets Industry Overview</dc:title>
  <dc:subject>PptxGenJS Presentation</dc:subject>
  <dc:creator>Adi Dagan</dc:creator>
  <cp:lastModifiedBy>Adi Dagan</cp:lastModifiedBy>
  <cp:revision>1</cp:revision>
  <dcterms:created xsi:type="dcterms:W3CDTF">2026-04-21T04:22:14Z</dcterms:created>
  <dcterms:modified xsi:type="dcterms:W3CDTF">2026-04-21T04:22:14Z</dcterms:modified>
</cp:coreProperties>
</file>