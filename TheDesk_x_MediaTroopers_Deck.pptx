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brant-magical-heisenberg/mnt/outputs/glyph_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12064"/>
            <a:ext cx="530352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20" kern="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Odds Primer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481328" y="9601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0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</a:t>
            </a:r>
            <a:pPr indent="0" marL="0">
              <a:buNone/>
            </a:pPr>
            <a:r>
              <a:rPr lang="en-US" sz="1400" b="1" dirty="0">
                <a:solidFill>
                  <a:srgbClr val="A834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</a:t>
            </a:r>
            <a:pPr indent="0" marL="0">
              <a:buNone/>
            </a:pPr>
            <a:r>
              <a:rPr lang="en-US" sz="1400" i="1" dirty="0">
                <a:solidFill>
                  <a:srgbClr val="6B70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sports desk for </a:t>
            </a:r>
            <a:pPr indent="0" marL="0">
              <a:buNone/>
            </a:pPr>
            <a:r>
              <a:rPr lang="en-US" sz="1400" b="1" dirty="0">
                <a:solidFill>
                  <a:srgbClr val="A834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market edge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499616"/>
            <a:ext cx="10543032" cy="16459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" y="1901952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43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Turn prediction-market traffic</a:t>
            </a:r>
            <a:endParaRPr lang="en-US" sz="43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43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into confident clicks.</a:t>
            </a:r>
            <a:endParaRPr lang="en-US" sz="4300" dirty="0"/>
          </a:p>
        </p:txBody>
      </p:sp>
      <p:sp>
        <p:nvSpPr>
          <p:cNvPr id="7" name="Text 4"/>
          <p:cNvSpPr/>
          <p:nvPr/>
        </p:nvSpPr>
        <p:spPr>
          <a:xfrm>
            <a:off x="822960" y="334670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2A395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Desk gives every market a simple verdict: Pick, Pass, or Avoid.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22960" y="4096512"/>
            <a:ext cx="319735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4096512"/>
            <a:ext cx="3051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Price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020312" y="4096512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461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495800" y="4096512"/>
            <a:ext cx="3197352" cy="1078992"/>
          </a:xfrm>
          <a:prstGeom prst="roundRect">
            <a:avLst>
              <a:gd name="adj" fmla="val 5085"/>
            </a:avLst>
          </a:prstGeom>
          <a:solidFill>
            <a:srgbClr val="F7E4DA"/>
          </a:solidFill>
          <a:ln w="19050">
            <a:solidFill>
              <a:srgbClr val="D946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68952" y="4096512"/>
            <a:ext cx="3051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A834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Verdict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693152" y="4096512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461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8168640" y="4096512"/>
            <a:ext cx="319735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41792" y="4096512"/>
            <a:ext cx="30510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Partner action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22960" y="546811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For World Cup 2026, Odds Primer turns market prices into clear, reasoned verdicts users can understand — and partners can route into measurable action.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22960" y="6236208"/>
            <a:ext cx="10543032" cy="10973"/>
          </a:xfrm>
          <a:prstGeom prst="rect">
            <a:avLst/>
          </a:prstGeom>
          <a:solidFill>
            <a:srgbClr val="D9D2C0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6364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World Cup 2026 pilot  ·  Odds Primer × MediaTroopers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WHY IT’S DIFFERENT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04672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Odds comparison shows prices. The Desk judges them.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66420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2A395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Desk forms its own independent fair-price view using team strength, fixture context, conditions, and vetted news — then compares that view to live prices from Polymarket, Kalshi, and sportsbooks.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2542032"/>
            <a:ext cx="50292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2798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ODDS COMPARISON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133856" y="3401568"/>
            <a:ext cx="137160" cy="137160"/>
          </a:xfrm>
          <a:prstGeom prst="ellipse">
            <a:avLst/>
          </a:prstGeom>
          <a:solidFill>
            <a:srgbClr val="2A6FDB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3192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Polymarket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023360" y="33192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E2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43.8%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33856" y="3831336"/>
            <a:ext cx="137160" cy="137160"/>
          </a:xfrm>
          <a:prstGeom prst="ellipse">
            <a:avLst/>
          </a:prstGeom>
          <a:solidFill>
            <a:srgbClr val="00C46A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749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Kalshi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023360" y="37490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E2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44.5%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4297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0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Answers — where is the best price?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36792" y="2542032"/>
            <a:ext cx="5029200" cy="2240280"/>
          </a:xfrm>
          <a:prstGeom prst="rect">
            <a:avLst/>
          </a:prstGeom>
          <a:solidFill>
            <a:srgbClr val="FFFFFF"/>
          </a:solidFill>
          <a:ln w="17780">
            <a:solidFill>
              <a:srgbClr val="D946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798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834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DESK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29400" y="3273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Model price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28632" y="327355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E2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48.0%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29400" y="36210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Best market price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28632" y="362102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E22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43.8%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9400" y="39684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Edge in our favour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28632" y="396849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83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+4.2pp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811512" y="2834640"/>
            <a:ext cx="1234440" cy="365760"/>
          </a:xfrm>
          <a:prstGeom prst="rect">
            <a:avLst/>
          </a:prstGeom>
          <a:solidFill>
            <a:srgbClr val="F7E4DA"/>
          </a:solidFill>
          <a:ln w="22225">
            <a:solidFill>
              <a:srgbClr val="D946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11512" y="28346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D9461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PICK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29400" y="43525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Answers — is the price worth acting on?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BUILT FROM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" y="5340096"/>
            <a:ext cx="1396419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340096"/>
            <a:ext cx="13964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Polymarket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47395" y="5340096"/>
            <a:ext cx="1396419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47395" y="5340096"/>
            <a:ext cx="13964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Kalshi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71831" y="5340096"/>
            <a:ext cx="1396419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71831" y="5340096"/>
            <a:ext cx="13964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Sportsbooks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96266" y="5340096"/>
            <a:ext cx="1396419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6266" y="5340096"/>
            <a:ext cx="13964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Team ratings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20702" y="5340096"/>
            <a:ext cx="1396419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20702" y="5340096"/>
            <a:ext cx="13964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Fixture data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45137" y="5340096"/>
            <a:ext cx="1396419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45137" y="5340096"/>
            <a:ext cx="13964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Conditions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969573" y="5340096"/>
            <a:ext cx="1396419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69573" y="5340096"/>
            <a:ext cx="13964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Newsroom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Most markets are a Pass.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A834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Pick is rare — so it carries weight.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PRODUCT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04672" y="1078992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verdict is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conversion bridge.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Most odds tools leave the user staring at numbers. The Desk turns the price into a decision.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2A395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Not “bet now.” Not tipster noise — a disciplined editorial verdict that ships with live venue links and a written case.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846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That’s the conversion unit you route traffic into — the next step is one click, not a search.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0" y="1280160"/>
            <a:ext cx="5413248" cy="5212080"/>
          </a:xfrm>
          <a:prstGeom prst="roundRect">
            <a:avLst>
              <a:gd name="adj" fmla="val 1053"/>
            </a:avLst>
          </a:prstGeom>
          <a:solidFill>
            <a:srgbClr val="D9461C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0" y="1280160"/>
            <a:ext cx="5321808" cy="5212080"/>
          </a:xfrm>
          <a:prstGeom prst="roundRect">
            <a:avLst>
              <a:gd name="adj" fmla="val 1053"/>
            </a:avLst>
          </a:prstGeom>
          <a:solidFill>
            <a:srgbClr val="F7E4DA"/>
          </a:solidFill>
          <a:ln w="15875">
            <a:solidFill>
              <a:srgbClr val="D9461C"/>
            </a:solidFill>
            <a:prstDash val="solid"/>
          </a:ln>
        </p:spPr>
      </p:sp>
      <p:pic>
        <p:nvPicPr>
          <p:cNvPr id="9" name="Image 0" descr="/sessions/vibrant-magical-heisenberg/mnt/outputs/t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5936" y="1664208"/>
            <a:ext cx="182880" cy="1554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20256" y="1572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50" kern="0" dirty="0">
                <a:solidFill>
                  <a:srgbClr val="D9461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PICK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626096" y="1554480"/>
            <a:ext cx="1965960" cy="402336"/>
          </a:xfrm>
          <a:prstGeom prst="roundRect">
            <a:avLst>
              <a:gd name="adj" fmla="val 11364"/>
            </a:avLst>
          </a:prstGeom>
          <a:solidFill>
            <a:srgbClr val="D9461C"/>
          </a:solidFill>
          <a:ln/>
        </p:spPr>
      </p:sp>
      <p:sp>
        <p:nvSpPr>
          <p:cNvPr id="12" name="Text 9"/>
          <p:cNvSpPr/>
          <p:nvPr/>
        </p:nvSpPr>
        <p:spPr>
          <a:xfrm>
            <a:off x="7626096" y="155448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Curaçao to win</a:t>
            </a:r>
            <a:endParaRPr lang="en-US" sz="1300" dirty="0"/>
          </a:p>
        </p:txBody>
      </p:sp>
      <p:pic>
        <p:nvPicPr>
          <p:cNvPr id="13" name="Image 1" descr="/sessions/vibrant-magical-heisenberg/mnt/outputs/flag_ecuad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36" y="2295144"/>
            <a:ext cx="329184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57416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6B70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Ecuador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8028432" y="22585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0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</a:t>
            </a:r>
            <a:endParaRPr lang="en-US" sz="1500" dirty="0"/>
          </a:p>
        </p:txBody>
      </p:sp>
      <p:pic>
        <p:nvPicPr>
          <p:cNvPr id="16" name="Image 2" descr="/sessions/vibrant-magical-heisenberg/mnt/outputs/flag_curaca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2295144"/>
            <a:ext cx="329184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69096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Curaçao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6345936" y="2715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FIFA World Cup 2026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345936" y="3099816"/>
            <a:ext cx="4700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model thinks Curaçao are mispriced. Our number reads 34% on the away side; the market reads 9%. The +24.1pp gap is the Pick.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345936" y="4270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Curaçao to win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345936" y="4562856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MODEL </a:t>
            </a:r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34%      </a:t>
            </a:r>
            <a:pPr indent="0" marL="0">
              <a:buNone/>
            </a:pPr>
            <a:r>
              <a:rPr lang="en-US" sz="1350" b="1" spc="1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MARKET </a:t>
            </a:r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9%      </a:t>
            </a:r>
            <a:pPr indent="0" marL="0">
              <a:buNone/>
            </a:pPr>
            <a:r>
              <a:rPr lang="en-US" sz="1350" b="1" dirty="0">
                <a:solidFill>
                  <a:srgbClr val="A834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+24.1pp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345936" y="5020056"/>
            <a:ext cx="4700016" cy="457200"/>
          </a:xfrm>
          <a:prstGeom prst="roundRect">
            <a:avLst>
              <a:gd name="adj" fmla="val 10000"/>
            </a:avLst>
          </a:prstGeom>
          <a:solidFill>
            <a:srgbClr val="D9461C"/>
          </a:solidFill>
          <a:ln/>
        </p:spPr>
      </p:sp>
      <p:sp>
        <p:nvSpPr>
          <p:cNvPr id="23" name="Text 18"/>
          <p:cNvSpPr/>
          <p:nvPr/>
        </p:nvSpPr>
        <p:spPr>
          <a:xfrm>
            <a:off x="6345936" y="5020056"/>
            <a:ext cx="4700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VIEW LIVE MARKET ON POLYMARKET   ↗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345936" y="5550408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A834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BEST PRICE · +958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345936" y="5897880"/>
            <a:ext cx="2971800" cy="457200"/>
          </a:xfrm>
          <a:prstGeom prst="roundRect">
            <a:avLst>
              <a:gd name="adj" fmla="val 10000"/>
            </a:avLst>
          </a:prstGeom>
          <a:solidFill>
            <a:srgbClr val="0E2240"/>
          </a:solidFill>
          <a:ln/>
        </p:spPr>
      </p:sp>
      <p:sp>
        <p:nvSpPr>
          <p:cNvPr id="26" name="Text 21"/>
          <p:cNvSpPr/>
          <p:nvPr/>
        </p:nvSpPr>
        <p:spPr>
          <a:xfrm>
            <a:off x="6345936" y="5897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VIEW LIVE MARKET ON KALSHI   ↗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9454896" y="58978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READ THE CASE  →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PILOT ASK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04672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low-friction way to monetize prediction-market intent.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66420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2A395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MediaTroopers already understands acquisition. The Desk adds the missing layer — trust-based decision support around sports markets.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1728216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468880"/>
            <a:ext cx="1581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High-intent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user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551176" y="246888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461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26664" y="2468880"/>
            <a:ext cx="1728216" cy="749808"/>
          </a:xfrm>
          <a:prstGeom prst="roundRect">
            <a:avLst>
              <a:gd name="adj" fmla="val 7317"/>
            </a:avLst>
          </a:prstGeom>
          <a:solidFill>
            <a:srgbClr val="F7E4DA"/>
          </a:solidFill>
          <a:ln w="19050">
            <a:solidFill>
              <a:srgbClr val="D946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9816" y="2468880"/>
            <a:ext cx="1581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834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Desk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834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verdict tile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0" y="246888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461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230368" y="2468880"/>
            <a:ext cx="1728216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2468880"/>
            <a:ext cx="1581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Affiliate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CTA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58584" y="246888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461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34072" y="2468880"/>
            <a:ext cx="1728216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07224" y="2468880"/>
            <a:ext cx="1581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Venue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62288" y="246888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461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637776" y="2468880"/>
            <a:ext cx="1728216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10928" y="2468880"/>
            <a:ext cx="1581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Measured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E224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result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3456432"/>
            <a:ext cx="5029200" cy="2194560"/>
          </a:xfrm>
          <a:prstGeom prst="rect">
            <a:avLst/>
          </a:prstGeom>
          <a:solidFill>
            <a:srgbClr val="FFFFFF"/>
          </a:solidFill>
          <a:ln w="17780">
            <a:solidFill>
              <a:srgbClr val="D946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675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834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PILOT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5568" y="402336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D9461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  </a:t>
            </a:r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Selected World Cup markets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D9461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  </a:t>
            </a:r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Live verdict tiles on chosen pages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D9461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  </a:t>
            </a:r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One or two outbound partner paths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D9461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  </a:t>
            </a:r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Basic outbound-intent tracking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D9461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  </a:t>
            </a:r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Scale only if the data shows signal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36792" y="3456432"/>
            <a:ext cx="5029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3675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07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WHAT MEDIATROOPERS GETS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29400" y="402336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D9461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  </a:t>
            </a:r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Early position in prediction-market sports traffic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D9461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  </a:t>
            </a:r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Differentiated editorial product, not commodity odds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D9461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  </a:t>
            </a:r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Embeddable verdict modules for existing pages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D9461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  </a:t>
            </a:r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Trust-based CTAs — no gambling hype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D9461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  </a:t>
            </a:r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reason to click beyond bonus offers or generic odds tables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58704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E224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Let’s run one contained World Cup pilot: one market set, one traffic path, measurable outbound intent.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A834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If the signal is there, MediaTroopers gets the early playbook before prediction-market sports traffic becomes crowded and expensive.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Desk × MediaTroopers — pilot proposal</dc:title>
  <dc:subject>PptxGenJS Presentation</dc:subject>
  <dc:creator>Odds Primer</dc:creator>
  <cp:lastModifiedBy>Odds Primer</cp:lastModifiedBy>
  <cp:revision>1</cp:revision>
  <dcterms:created xsi:type="dcterms:W3CDTF">2026-05-25T19:58:34Z</dcterms:created>
  <dcterms:modified xsi:type="dcterms:W3CDTF">2026-05-25T19:58:34Z</dcterms:modified>
</cp:coreProperties>
</file>