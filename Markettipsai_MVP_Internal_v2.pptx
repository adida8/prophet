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Modest</c:v>
                </c:pt>
              </c:strCache>
            </c:strRef>
          </c:tx>
          <c:spPr>
            <a:solidFill>
              <a:srgbClr val="B0B5B1"/>
            </a:solidFill>
            <a:ln w="28575" cap="flat">
              <a:solidFill>
                <a:srgbClr val="B0B5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B5B1"/>
              </a:solidFill>
              <a:ln w="9525" cap="flat">
                <a:solidFill>
                  <a:srgbClr val="B0B5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Jun</c:v>
                  </c:pt>
                  <c:pt idx="1">
                    <c:v>Jul</c:v>
                  </c:pt>
                  <c:pt idx="2">
                    <c:v>Aug</c:v>
                  </c:pt>
                  <c:pt idx="3">
                    <c:v>Sep</c:v>
                  </c:pt>
                  <c:pt idx="4">
                    <c:v>Oct</c:v>
                  </c:pt>
                  <c:pt idx="5">
                    <c:v>Nov</c:v>
                  </c:pt>
                  <c:pt idx="6">
                    <c:v>Dec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8000</c:v>
                </c:pt>
                <c:pt idx="1">
                  <c:v>18000</c:v>
                </c:pt>
                <c:pt idx="2">
                  <c:v>6000</c:v>
                </c:pt>
                <c:pt idx="3">
                  <c:v>4000</c:v>
                </c:pt>
                <c:pt idx="4">
                  <c:v>3500</c:v>
                </c:pt>
                <c:pt idx="5">
                  <c:v>3000</c:v>
                </c:pt>
                <c:pt idx="6">
                  <c:v>2500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Realistic</c:v>
                </c:pt>
              </c:strCache>
            </c:strRef>
          </c:tx>
          <c:spPr>
            <a:solidFill>
              <a:srgbClr val="8FBE2A"/>
            </a:solidFill>
            <a:ln w="28575" cap="flat">
              <a:solidFill>
                <a:srgbClr val="8FBE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FBE2A"/>
              </a:solidFill>
              <a:ln w="9525" cap="flat">
                <a:solidFill>
                  <a:srgbClr val="8FBE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Jun</c:v>
                  </c:pt>
                  <c:pt idx="1">
                    <c:v>Jul</c:v>
                  </c:pt>
                  <c:pt idx="2">
                    <c:v>Aug</c:v>
                  </c:pt>
                  <c:pt idx="3">
                    <c:v>Sep</c:v>
                  </c:pt>
                  <c:pt idx="4">
                    <c:v>Oct</c:v>
                  </c:pt>
                  <c:pt idx="5">
                    <c:v>Nov</c:v>
                  </c:pt>
                  <c:pt idx="6">
                    <c:v>Dec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25000</c:v>
                </c:pt>
                <c:pt idx="1">
                  <c:v>80000</c:v>
                </c:pt>
                <c:pt idx="2">
                  <c:v>35000</c:v>
                </c:pt>
                <c:pt idx="3">
                  <c:v>50000</c:v>
                </c:pt>
                <c:pt idx="4">
                  <c:v>55000</c:v>
                </c:pt>
                <c:pt idx="5">
                  <c:v>60000</c:v>
                </c:pt>
                <c:pt idx="6">
                  <c:v>65000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Optimistic</c:v>
                </c:pt>
              </c:strCache>
            </c:strRef>
          </c:tx>
          <c:spPr>
            <a:solidFill>
              <a:srgbClr val="1F2A26"/>
            </a:solidFill>
            <a:ln w="28575" cap="flat">
              <a:solidFill>
                <a:srgbClr val="1F2A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2A26"/>
              </a:solidFill>
              <a:ln w="9525" cap="flat">
                <a:solidFill>
                  <a:srgbClr val="1F2A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Jun</c:v>
                  </c:pt>
                  <c:pt idx="1">
                    <c:v>Jul</c:v>
                  </c:pt>
                  <c:pt idx="2">
                    <c:v>Aug</c:v>
                  </c:pt>
                  <c:pt idx="3">
                    <c:v>Sep</c:v>
                  </c:pt>
                  <c:pt idx="4">
                    <c:v>Oct</c:v>
                  </c:pt>
                  <c:pt idx="5">
                    <c:v>Nov</c:v>
                  </c:pt>
                  <c:pt idx="6">
                    <c:v>Dec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60000</c:v>
                </c:pt>
                <c:pt idx="1">
                  <c:v>220000</c:v>
                </c:pt>
                <c:pt idx="2">
                  <c:v>130000</c:v>
                </c:pt>
                <c:pt idx="3">
                  <c:v>180000</c:v>
                </c:pt>
                <c:pt idx="4">
                  <c:v>200000</c:v>
                </c:pt>
                <c:pt idx="5">
                  <c:v>230000</c:v>
                </c:pt>
                <c:pt idx="6">
                  <c:v>260000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6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6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66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1783080" cy="292608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0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 /  INTERNAL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spc="-200" kern="0" dirty="0">
                <a:solidFill>
                  <a:srgbClr val="F5F4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Markettipsai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C7F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DraftKings of soccer prediction markets.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C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hyper-niche media + aggregator hub, built for the 2026 FIFA World Cup.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8046720" cy="0"/>
          </a:xfrm>
          <a:prstGeom prst="line">
            <a:avLst/>
          </a:prstGeom>
          <a:noFill/>
          <a:ln w="9525">
            <a:solidFill>
              <a:srgbClr val="1F35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 Dagan  /  May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 — for internal alignment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THE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Soccer-only. Two platforms. World Cup.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the dedicated home for traders betting the 2026 FIFA World Cup on Polymarket and Kalshi. No politics. No crypto. No NFL. Just soccer markets, deeply covered.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88920"/>
            <a:ext cx="54864" cy="1828800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FB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Hyper-niche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Soccer-first. We say no to every other vertical so the product can be the best at one.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00984" y="278892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00984" y="2788920"/>
            <a:ext cx="54864" cy="1828800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297180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FB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9584" y="32461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Two-platform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29584" y="37490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 × Kalshi side-by-side. Where the only two liquid books for U.S. soccer PM live.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44768" y="2788920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2788920"/>
            <a:ext cx="54864" cy="1828800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297180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FB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73368" y="32461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World Cup window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73368" y="37490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a 6-month surge of attention. The bet: the largest single soccer-PM event of the decade.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Markettipsai  /  MVP — Internal alignment  /  May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THE MARKET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giants are going wide. We're going deep.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0233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NETWORK &amp; FRIENDS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Going wide  —  losing depth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Politics, crypto, NFL, NBA, MLB, soccer — all one feed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sports news; no PM-trading lens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comparison across PM platforms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onboarding treated as someone else's problem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4023360" cy="2788920"/>
          </a:xfrm>
          <a:prstGeom prst="rect">
            <a:avLst/>
          </a:prstGeom>
          <a:solidFill>
            <a:srgbClr val="0B1D17"/>
          </a:solidFill>
          <a:ln w="12700">
            <a:solidFill>
              <a:srgbClr val="0B1D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828800"/>
            <a:ext cx="73152" cy="2788920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7F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MARKETTIPSAI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2286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4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Going deep  —  owning the niche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92040" y="28803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World Cup. One sport, one event, one platform set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 is an actionable trade thesis, not news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prices compared across Polymarket × Kalshi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bridge from $0 wallet to first paper trade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Markettipsai  /  MVP — Internal alignment  /  May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WHAT WE BUILD FIRST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features. That's the MVP.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79192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0195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FB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 Odds Arbitrage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99923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single-page tracker for the Top 5–10 daily World Cup markets.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356616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share prices side-by-side, Polymarket × Kalshi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entry visually highlighted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out to the underpriced 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00984" y="1737360"/>
            <a:ext cx="2679192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190195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FB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29584" y="25146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Narrative-Driven Content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29584" y="299923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Hero post that explains why a market is moving.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29584" y="356616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insight, not generic sports news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"England midfield injury makes $0.45 a value buy"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post anchors that day's odds table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44768" y="1737360"/>
            <a:ext cx="2679192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195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FB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73368" y="251460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Translation Bridge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73368" y="2999232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Dummy-proof onboarding from "never used PM" to first trade.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73368" y="356616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wallet → deposit → trade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glossary for Web3 + PM mechanics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activation friction — fuels CPA conversion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Markettipsai  /  MVP — Internal alignment  /  May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GROWTH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site is a screenshot factory.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odds card is designed to be screenshotted, posted to X and Reddit, and to pull traffic right back into our email list — where retention compounds.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1783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697480"/>
            <a:ext cx="1783080" cy="54864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86207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FB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3081528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347472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odds cards, generated daily.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76856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B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487168" y="2697480"/>
            <a:ext cx="1783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2697480"/>
            <a:ext cx="1783080" cy="54864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86207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FB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51760" y="3081528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51760" y="347472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in soccer / PM communities on X &amp; Reddit.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06824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B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17136" y="2697480"/>
            <a:ext cx="1783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17136" y="2697480"/>
            <a:ext cx="1783080" cy="54864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286207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FB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81728" y="3081528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Capture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81728" y="347472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 funnels to email-gated daily picks.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36792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B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547104" y="2697480"/>
            <a:ext cx="1783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47104" y="2697480"/>
            <a:ext cx="1783080" cy="54864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286207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FB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11696" y="3081528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11696" y="3474720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email keeps users until World Cup match day.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0B1D17"/>
          </a:solidFill>
          <a:ln w="12700">
            <a:solidFill>
              <a:srgbClr val="0B1D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7F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 </a:t>
            </a:r>
            <a:pPr indent="0" marL="0">
              <a:buNone/>
            </a:pPr>
            <a:r>
              <a:rPr lang="en-US" sz="110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day generates news → news drives screenshot bait → screenshots refill the email list.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Markettipsai  /  MVP — Internal alignment  /  May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MONETIZATION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are the tollbooth.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comes from CPA affiliate placements — trackable promo codes embedded in odds tables and onboarding guides. No display ads. No paywall in v1.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45720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 TO WIN GROUP  /  YES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48840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63240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77640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3310128"/>
            <a:ext cx="4114800" cy="0"/>
          </a:xfrm>
          <a:prstGeom prst="line">
            <a:avLst/>
          </a:prstGeom>
          <a:noFill/>
          <a:ln w="6350">
            <a:solidFill>
              <a:srgbClr val="E1E0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3337560"/>
            <a:ext cx="4297680" cy="411480"/>
          </a:xfrm>
          <a:prstGeom prst="rect">
            <a:avLst/>
          </a:prstGeom>
          <a:solidFill>
            <a:srgbClr val="F3FBE0"/>
          </a:solidFill>
          <a:ln w="12700">
            <a:solidFill>
              <a:srgbClr val="F3FB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3383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3383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+6.2¢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77640" y="3364992"/>
            <a:ext cx="777240" cy="292608"/>
          </a:xfrm>
          <a:prstGeom prst="rect">
            <a:avLst/>
          </a:prstGeom>
          <a:solidFill>
            <a:srgbClr val="0B1D17"/>
          </a:solidFill>
          <a:ln w="12700">
            <a:solidFill>
              <a:srgbClr val="0B1D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33649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7F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3886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63240" y="3886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77640" y="3867912"/>
            <a:ext cx="777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38679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12080" y="2514600"/>
            <a:ext cx="3474720" cy="2057400"/>
          </a:xfrm>
          <a:prstGeom prst="rect">
            <a:avLst/>
          </a:prstGeom>
          <a:solidFill>
            <a:srgbClr val="0B1D17"/>
          </a:solidFill>
          <a:ln w="12700">
            <a:solidFill>
              <a:srgbClr val="0B1D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2514600"/>
            <a:ext cx="73152" cy="2057400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7F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 /  ROUGH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4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$25–$80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548640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per funded signup, depending on platform tier.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Pro tier ($/mo) for serious traders.  Never: display ads.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Markettipsai  /  MVP — Internal alignment  /  May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WHAT WE EXPECT TO SEE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Cold start. World Cup peak. Sport rotation.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monthly visitors from June launch through year-end. Jun–Jul: World Cup window. Aug–Dec: NFL season + EPL + sport rotation on the same platforms.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48840"/>
          <a:ext cx="55778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2148840"/>
            <a:ext cx="24688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0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0" y="2148840"/>
            <a:ext cx="45720" cy="749808"/>
          </a:xfrm>
          <a:prstGeom prst="rect">
            <a:avLst/>
          </a:prstGeom>
          <a:solidFill>
            <a:srgbClr val="B0B5B1"/>
          </a:solidFill>
          <a:ln w="12700">
            <a:solidFill>
              <a:srgbClr val="B0B5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82512" y="2221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382512" y="2395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18K</a:t>
            </a:r>
            <a:pPr indent="0" marL="0">
              <a:buNone/>
            </a:pPr>
            <a:r>
              <a:rPr lang="en-US" sz="10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Jul / </a:t>
            </a:r>
            <a:pPr indent="0" marL="0">
              <a:buNone/>
            </a:pPr>
            <a:r>
              <a:rPr lang="en-US" sz="16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45K</a:t>
            </a:r>
            <a:pPr indent="0" marL="0">
              <a:buNone/>
            </a:pPr>
            <a:r>
              <a:rPr lang="en-US" sz="10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82512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social moment. Audience disperses post-WC.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17920" y="2990088"/>
            <a:ext cx="24688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0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2990088"/>
            <a:ext cx="45720" cy="749808"/>
          </a:xfrm>
          <a:prstGeom prst="rect">
            <a:avLst/>
          </a:prstGeom>
          <a:solidFill>
            <a:srgbClr val="8FBE2A"/>
          </a:solidFill>
          <a:ln w="12700">
            <a:solidFill>
              <a:srgbClr val="8FBE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3063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382512" y="32369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80K</a:t>
            </a:r>
            <a:pPr indent="0" marL="0">
              <a:buNone/>
            </a:pPr>
            <a:r>
              <a:rPr lang="en-US" sz="10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Jul / </a:t>
            </a:r>
            <a:pPr indent="0" marL="0">
              <a:buNone/>
            </a:pPr>
            <a:r>
              <a:rPr lang="en-US" sz="16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370K</a:t>
            </a:r>
            <a:pPr indent="0" marL="0">
              <a:buNone/>
            </a:pPr>
            <a:r>
              <a:rPr lang="en-US" sz="10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82512" y="34930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screenshot virality. NFL pivot half-converts.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17920" y="3831336"/>
            <a:ext cx="24688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0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17920" y="3831336"/>
            <a:ext cx="45720" cy="749808"/>
          </a:xfrm>
          <a:prstGeom prst="rect">
            <a:avLst/>
          </a:prstGeom>
          <a:solidFill>
            <a:srgbClr val="1F2A26"/>
          </a:solidFill>
          <a:ln w="12700">
            <a:solidFill>
              <a:srgbClr val="1F2A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9044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382512" y="4078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220K</a:t>
            </a:r>
            <a:pPr indent="0" marL="0">
              <a:buNone/>
            </a:pPr>
            <a:r>
              <a:rPr lang="en-US" sz="10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Jul / </a:t>
            </a:r>
            <a:pPr indent="0" marL="0">
              <a:buNone/>
            </a:pPr>
            <a:r>
              <a:rPr lang="en-US" sz="16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1.28M</a:t>
            </a:r>
            <a:pPr indent="0" marL="0">
              <a:buNone/>
            </a:pPr>
            <a:r>
              <a:rPr lang="en-US" sz="10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82512" y="43342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viral X moments. Compounding email list. NFL pivot retains.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Markettipsai  /  MVP — Internal alignment  /  May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FROM VISITORS TO DOLLARS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that becomes in revenue.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Affiliate-only revenue. Blended CPA reflects realized cash, not rate-card max — Polymarket revshare gated at $10K user volume; Kalshi pays in $25 credits.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566160" y="2148840"/>
            <a:ext cx="1691640" cy="45720"/>
          </a:xfrm>
          <a:prstGeom prst="rect">
            <a:avLst/>
          </a:prstGeom>
          <a:solidFill>
            <a:srgbClr val="5C6661"/>
          </a:solidFill>
          <a:ln w="12700">
            <a:solidFill>
              <a:srgbClr val="5C66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2402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C6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57800" y="2148840"/>
            <a:ext cx="1691640" cy="45720"/>
          </a:xfrm>
          <a:prstGeom prst="rect">
            <a:avLst/>
          </a:prstGeom>
          <a:solidFill>
            <a:srgbClr val="8FBE2A"/>
          </a:solidFill>
          <a:ln w="12700">
            <a:solidFill>
              <a:srgbClr val="8FBE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22402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FB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0" y="2148840"/>
            <a:ext cx="1691640" cy="45720"/>
          </a:xfrm>
          <a:prstGeom prst="rect">
            <a:avLst/>
          </a:prstGeom>
          <a:solidFill>
            <a:srgbClr val="1F2A26"/>
          </a:solidFill>
          <a:ln w="12700">
            <a:solidFill>
              <a:srgbClr val="1F2A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2402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496312"/>
            <a:ext cx="8275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96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(Jun–Dec)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4963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6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24963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370K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24963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1.28M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770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→ email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770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6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770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2770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044952"/>
            <a:ext cx="8275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44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subscribers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3044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6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044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3044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115K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319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→ funded signup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33192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6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33192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33192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3593592"/>
            <a:ext cx="8275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593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signups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66160" y="35935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6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35935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2,960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35935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15,360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3867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CPA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3867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6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57800" y="3867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3867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" y="4142232"/>
            <a:ext cx="8275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4123944"/>
            <a:ext cx="8275320" cy="310896"/>
          </a:xfrm>
          <a:prstGeom prst="rect">
            <a:avLst/>
          </a:prstGeom>
          <a:solidFill>
            <a:srgbClr val="0B1D17"/>
          </a:solidFill>
          <a:ln w="12700">
            <a:solidFill>
              <a:srgbClr val="0B1D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142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(7 mo)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566160" y="4142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AA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$3.6K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57800" y="4142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F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$104K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49440" y="4142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4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$768K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57200" y="4617720"/>
            <a:ext cx="8229600" cy="164592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6177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LOAD-BEARING ASSUMPTION:  </a:t>
            </a:r>
            <a:pPr algn="ctr" indent="0" marL="0">
              <a:buNone/>
            </a:pPr>
            <a:r>
              <a:rPr lang="en-US" sz="900" dirty="0">
                <a:solidFill>
                  <a:srgbClr val="0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signups, not visitors. A 2× swing in conversion moves the realistic case from $104K to $208K.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Markettipsai  /  MVP — Internal alignment  /  May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7F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MVP SCOPE + DECISION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4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ship. What we cut. What we decide.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06040" cy="2697480"/>
          </a:xfrm>
          <a:prstGeom prst="rect">
            <a:avLst/>
          </a:prstGeom>
          <a:solidFill>
            <a:srgbClr val="13302A"/>
          </a:solidFill>
          <a:ln w="6350">
            <a:solidFill>
              <a:srgbClr val="1F35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2606040" cy="54864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8562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7F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MVP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4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 ships with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" y="256032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Aggregator: 5–10 daily World Cup markets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 × Kalshi price comparison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daily Hero narrative post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bridge (wallet → first trade)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capture + daily send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links inside table + guides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606040" cy="2697480"/>
          </a:xfrm>
          <a:prstGeom prst="rect">
            <a:avLst/>
          </a:prstGeom>
          <a:solidFill>
            <a:srgbClr val="13302A"/>
          </a:solidFill>
          <a:ln w="6350">
            <a:solidFill>
              <a:srgbClr val="1F35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691640"/>
            <a:ext cx="2606040" cy="54864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8562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MVP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93008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4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Explicitly cut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93008" y="256032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in-game tracking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Non-World-Cup soccer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(web-only first)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 / pro features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C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On-platform trade execution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691640"/>
            <a:ext cx="2743200" cy="2697480"/>
          </a:xfrm>
          <a:prstGeom prst="rect">
            <a:avLst/>
          </a:prstGeom>
          <a:solidFill>
            <a:srgbClr val="13302A"/>
          </a:solidFill>
          <a:ln w="6350">
            <a:solidFill>
              <a:srgbClr val="1F35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691640"/>
            <a:ext cx="2743200" cy="54864"/>
          </a:xfrm>
          <a:prstGeom prst="rect">
            <a:avLst/>
          </a:prstGeom>
          <a:solidFill>
            <a:srgbClr val="F5F4EE"/>
          </a:solidFill>
          <a:ln w="12700">
            <a:solidFill>
              <a:srgbClr val="F5F4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856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THIS WEEK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81928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4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questions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81928" y="256032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Brand: keep "Markettipsai" or rename?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partner priority — Poly or Kalshi first?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Editorial: who writes the daily Hero?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5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date target — pre-tournament or group-stage?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526280"/>
            <a:ext cx="8183880" cy="365760"/>
          </a:xfrm>
          <a:prstGeom prst="rect">
            <a:avLst/>
          </a:prstGeom>
          <a:solidFill>
            <a:srgbClr val="C7F950"/>
          </a:solidFill>
          <a:ln w="12700">
            <a:solidFill>
              <a:srgbClr val="C7F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ASK:  approve scope today, kick off build week of May 4.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Markettipsai — MVP Internal Alignment</dc:title>
  <dc:subject>PptxGenJS Presentation</dc:subject>
  <dc:creator>Adi Dagan</dc:creator>
  <cp:lastModifiedBy>Adi Dagan</cp:lastModifiedBy>
  <cp:revision>1</cp:revision>
  <dcterms:created xsi:type="dcterms:W3CDTF">2026-05-01T18:49:15Z</dcterms:created>
  <dcterms:modified xsi:type="dcterms:W3CDTF">2026-05-01T18:49:15Z</dcterms:modified>
</cp:coreProperties>
</file>